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Bahnschrift" panose="020B0502040204020203" pitchFamily="34" charset="0"/>
      <p:regular r:id="rId10"/>
      <p:bold r:id="rId11"/>
    </p:embeddedFont>
    <p:embeddedFont>
      <p:font typeface="Heebo Light" pitchFamily="2" charset="-79"/>
      <p:regular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  <p:embeddedFont>
      <p:font typeface="Myanmar Text" panose="020B0502040204020203" pitchFamily="34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6/11/relationships/changesInfo" Target="changesInfos/changesInfo1.xml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esh Garg" userId="f10f2386c81b20e1" providerId="LiveId" clId="{985C37C3-00A0-4BF2-977B-B67BCA8D2728}"/>
    <pc:docChg chg="modSld">
      <pc:chgData name="vishesh Garg" userId="f10f2386c81b20e1" providerId="LiveId" clId="{985C37C3-00A0-4BF2-977B-B67BCA8D2728}" dt="2026-07-03T06:26:58.510" v="68" actId="2711"/>
      <pc:docMkLst>
        <pc:docMk/>
      </pc:docMkLst>
      <pc:sldChg chg="modSp mod">
        <pc:chgData name="vishesh Garg" userId="f10f2386c81b20e1" providerId="LiveId" clId="{985C37C3-00A0-4BF2-977B-B67BCA8D2728}" dt="2026-07-03T06:26:58.510" v="68" actId="2711"/>
        <pc:sldMkLst>
          <pc:docMk/>
          <pc:sldMk cId="0" sldId="258"/>
        </pc:sldMkLst>
        <pc:spChg chg="mod">
          <ac:chgData name="vishesh Garg" userId="f10f2386c81b20e1" providerId="LiveId" clId="{985C37C3-00A0-4BF2-977B-B67BCA8D2728}" dt="2026-07-03T06:26:58.510" v="68" actId="2711"/>
          <ac:spMkLst>
            <pc:docMk/>
            <pc:sldMk cId="0" sldId="258"/>
            <ac:spMk id="8" creationId="{00000000-0000-0000-0000-000000000000}"/>
          </ac:spMkLst>
        </pc:spChg>
      </pc:sldChg>
      <pc:sldChg chg="modSp mod">
        <pc:chgData name="vishesh Garg" userId="f10f2386c81b20e1" providerId="LiveId" clId="{985C37C3-00A0-4BF2-977B-B67BCA8D2728}" dt="2026-07-03T06:25:36.017" v="48" actId="20577"/>
        <pc:sldMkLst>
          <pc:docMk/>
          <pc:sldMk cId="0" sldId="262"/>
        </pc:sldMkLst>
        <pc:spChg chg="mod">
          <ac:chgData name="vishesh Garg" userId="f10f2386c81b20e1" providerId="LiveId" clId="{985C37C3-00A0-4BF2-977B-B67BCA8D2728}" dt="2026-07-03T06:25:36.017" v="48" actId="20577"/>
          <ac:spMkLst>
            <pc:docMk/>
            <pc:sldMk cId="0" sldId="262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74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hyperlink" Target="https://blogs.psico-smart.com/blog-the-impact-of-ai-on-recruitment-automation-enhancing-efficiency-or-replacing-human-touch-169130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hyperlink" Target="https://research.google/blog/on-device-real-time-body-pose-tracking-with-mediapipe-blazepose/" TargetMode="External"/><Relationship Id="rId5" Type="http://schemas.openxmlformats.org/officeDocument/2006/relationships/hyperlink" Target="https://learning.linkedin.com/content/dam/me/business/en-us/amp/learning-solutions/images/wlr-2024/LinkedIn-Workplace-Learning-Report-2024.pdf" TargetMode="Externa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hyperlink" Target="https://www.shrm.org/in/topics-tools/research/2025-talent-trends/recruiti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8399" y="592217"/>
            <a:ext cx="5372219" cy="67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4842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</a:t>
            </a:r>
            <a:r>
              <a:rPr lang="en-US" sz="4200" dirty="0">
                <a:solidFill>
                  <a:srgbClr val="4842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The Artificial HR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399" y="1586032"/>
            <a:ext cx="1074420" cy="10745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27608" y="1586032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527608" y="2050613"/>
            <a:ext cx="635079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Limitless Loop</a:t>
            </a:r>
            <a:endParaRPr lang="en-US" sz="1650" b="1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399" y="2875359"/>
            <a:ext cx="1074420" cy="10745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27608" y="2875359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Hackathon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7527608" y="3339941"/>
            <a:ext cx="635079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i="1" dirty="0" err="1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TechClasher</a:t>
            </a:r>
            <a:r>
              <a:rPr lang="en-US" sz="16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@ GNIOT 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399" y="4164687"/>
            <a:ext cx="1074420" cy="107453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27608" y="4164687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College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7527608" y="4629269"/>
            <a:ext cx="635079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Greater Noida Institute of Technology (GNIOT)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399" y="5454015"/>
            <a:ext cx="1074420" cy="196857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27608" y="5454015"/>
            <a:ext cx="2686050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Members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7527608" y="5918597"/>
            <a:ext cx="635079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→ Divyanshu Shekhar  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7527608" y="6391275"/>
            <a:ext cx="635079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→ Harshit Garg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7527608" y="6863953"/>
            <a:ext cx="6350794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→ Khushman Kaur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9878"/>
            <a:ext cx="64533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i="1" dirty="0">
                <a:solidFill>
                  <a:srgbClr val="4842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Proposed Solution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78819"/>
            <a:ext cx="4196358" cy="3408878"/>
          </a:xfrm>
          <a:prstGeom prst="roundRect">
            <a:avLst>
              <a:gd name="adj" fmla="val 15970"/>
            </a:avLst>
          </a:prstGeom>
          <a:solidFill>
            <a:srgbClr val="EEE8DD"/>
          </a:solidFill>
          <a:ln w="7620">
            <a:solidFill>
              <a:srgbClr val="D4CE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213253"/>
            <a:ext cx="28473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 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2703671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Interviews are subjective and depend heavily on the interviewer's  perception. Candidates rarely get actionable feedback on Soft Skills . There’s a critical need for AI-accurate, data driven assessment technologies for improving job readiness.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1978819"/>
            <a:ext cx="4196358" cy="3408878"/>
          </a:xfrm>
          <a:prstGeom prst="roundRect">
            <a:avLst>
              <a:gd name="adj" fmla="val 15970"/>
            </a:avLst>
          </a:prstGeom>
          <a:solidFill>
            <a:srgbClr val="EEE8DD"/>
          </a:solidFill>
          <a:ln w="7620">
            <a:solidFill>
              <a:srgbClr val="D4CE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2213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Innovation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2703671"/>
            <a:ext cx="37274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Introducing an AI-powered interview assessment system that leverages computer vision and behavioral analysis to provide real time scoring on attire , body language and soft skills.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1978819"/>
            <a:ext cx="4196358" cy="3408878"/>
          </a:xfrm>
          <a:prstGeom prst="roundRect">
            <a:avLst>
              <a:gd name="adj" fmla="val 15970"/>
            </a:avLst>
          </a:prstGeom>
          <a:solidFill>
            <a:srgbClr val="EEE8DD"/>
          </a:solidFill>
          <a:ln w="7620">
            <a:solidFill>
              <a:srgbClr val="D4CE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22132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27036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→ </a:t>
            </a: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 time body language, gestures and attire detection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874568" y="3565565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→ </a:t>
            </a: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Commonly asked questions data paired with soft skills needs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874568" y="442745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→ </a:t>
            </a: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 powered evaluation are instant analysis reports.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5614511"/>
            <a:ext cx="13042702" cy="1685092"/>
          </a:xfrm>
          <a:prstGeom prst="roundRect">
            <a:avLst>
              <a:gd name="adj" fmla="val 32306"/>
            </a:avLst>
          </a:prstGeom>
          <a:solidFill>
            <a:srgbClr val="EEE8DD"/>
          </a:solidFill>
          <a:ln w="7620">
            <a:solidFill>
              <a:srgbClr val="D4CE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8224" y="58489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Flow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28224" y="6339364"/>
            <a:ext cx="125738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flow is designed to be real-time fast while providing analysis as accurate as possible without mixed perceptions:</a:t>
            </a:r>
          </a:p>
          <a:p>
            <a:pPr algn="ctr">
              <a:lnSpc>
                <a:spcPts val="2850"/>
              </a:lnSpc>
            </a:pPr>
            <a:r>
              <a:rPr lang="en-US" dirty="0">
                <a:latin typeface="Bahnschrift" panose="020B0502040204020203" pitchFamily="34" charset="0"/>
                <a:cs typeface="Heebo Light" pitchFamily="34" charset="-120"/>
              </a:rPr>
              <a:t>Submit minimal info  </a:t>
            </a:r>
            <a:r>
              <a:rPr lang="en-IN" dirty="0">
                <a:latin typeface="Bahnschrift" panose="020B0502040204020203" pitchFamily="34" charset="0"/>
              </a:rPr>
              <a:t>→  Soft skills assessment  →  (System) Capture cam for evaluation  →  Provide analysis</a:t>
            </a:r>
            <a:endParaRPr lang="en-US" sz="1750"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943" y="536615"/>
            <a:ext cx="4878348" cy="609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4842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Approach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208" y="1438989"/>
            <a:ext cx="3066336" cy="3066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2881" y="4749165"/>
            <a:ext cx="3338989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82943" y="5171122"/>
            <a:ext cx="4258866" cy="232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45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Frontend: </a:t>
            </a:r>
            <a:r>
              <a:rPr lang="en-US" sz="1500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Next.js + WebRTC for real-time camera feed &amp; user interaction</a:t>
            </a:r>
          </a:p>
          <a:p>
            <a:pPr marL="285750" indent="-285750">
              <a:lnSpc>
                <a:spcPts val="245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Backend: </a:t>
            </a:r>
            <a:r>
              <a:rPr lang="en-US" sz="1500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Django REST for ML requests &amp; analysis generation</a:t>
            </a:r>
          </a:p>
          <a:p>
            <a:pPr marL="285750" indent="-285750">
              <a:lnSpc>
                <a:spcPts val="245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Deployment: </a:t>
            </a:r>
            <a:r>
              <a:rPr lang="en-US" sz="1500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Containerized deployment on cloud-native systems for simultaneous access</a:t>
            </a:r>
          </a:p>
          <a:p>
            <a:pPr marL="285750" indent="-285750" algn="l">
              <a:lnSpc>
                <a:spcPts val="2450"/>
              </a:lnSpc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913" y="1438989"/>
            <a:ext cx="3066455" cy="30664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76568" y="4749284"/>
            <a:ext cx="2877145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&amp; Model Pipeline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185648" y="5171242"/>
            <a:ext cx="4258985" cy="232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45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Vision: </a:t>
            </a:r>
            <a:r>
              <a:rPr lang="en-US" sz="1500" dirty="0" err="1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MediaPipe</a:t>
            </a:r>
            <a:r>
              <a:rPr lang="en-US" sz="1500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 + CLIP/BLIP for body language, gesture &amp; attire analysis</a:t>
            </a:r>
          </a:p>
          <a:p>
            <a:pPr marL="285750" indent="-285750">
              <a:lnSpc>
                <a:spcPts val="245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Speech: </a:t>
            </a:r>
            <a:r>
              <a:rPr lang="en-US" sz="1500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Whisper + </a:t>
            </a:r>
            <a:r>
              <a:rPr lang="en-US" sz="1500" dirty="0" err="1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HuggingFace</a:t>
            </a:r>
            <a:r>
              <a:rPr lang="en-US" sz="1500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1500" dirty="0" err="1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Transofrmers</a:t>
            </a:r>
            <a:r>
              <a:rPr lang="en-US" sz="1500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 for spoken soft-skills evaluation</a:t>
            </a:r>
          </a:p>
          <a:p>
            <a:pPr marL="285750" indent="-285750">
              <a:lnSpc>
                <a:spcPts val="245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LLM Layer: </a:t>
            </a:r>
            <a:r>
              <a:rPr lang="en-US" sz="1500" b="1" dirty="0" err="1">
                <a:solidFill>
                  <a:srgbClr val="746558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Groq</a:t>
            </a:r>
            <a:r>
              <a:rPr lang="en-US" sz="1500" b="1" dirty="0">
                <a:solidFill>
                  <a:srgbClr val="746558"/>
                </a:solidFill>
                <a:latin typeface="Myanmar Text" panose="020B0502040204020203" pitchFamily="34" charset="0"/>
                <a:cs typeface="Myanmar Text" panose="020B0502040204020203" pitchFamily="34" charset="0"/>
              </a:rPr>
              <a:t> </a:t>
            </a:r>
            <a:r>
              <a:rPr lang="en-US" sz="1500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for structured, human-readable and intuitive feedback synthesis</a:t>
            </a:r>
          </a:p>
          <a:p>
            <a:pPr marL="285750" indent="-285750" algn="l">
              <a:lnSpc>
                <a:spcPts val="2450"/>
              </a:lnSpc>
              <a:buFont typeface="Arial" panose="020B0604020202020204" pitchFamily="34" charset="0"/>
              <a:buChar char="•"/>
            </a:pPr>
            <a:endParaRPr lang="en-US" sz="1500" b="1" dirty="0"/>
          </a:p>
        </p:txBody>
      </p:sp>
      <p:sp>
        <p:nvSpPr>
          <p:cNvPr id="9" name="Text 5"/>
          <p:cNvSpPr/>
          <p:nvPr/>
        </p:nvSpPr>
        <p:spPr>
          <a:xfrm>
            <a:off x="5185648" y="5912644"/>
            <a:ext cx="4258985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185648" y="6654046"/>
            <a:ext cx="4258985" cy="624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4738" y="1438989"/>
            <a:ext cx="3066455" cy="306645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98348" y="4749284"/>
            <a:ext cx="2439114" cy="304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&amp; Reliability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9688473" y="5171242"/>
            <a:ext cx="4258985" cy="232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45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Modular model design </a:t>
            </a:r>
            <a:r>
              <a:rPr lang="en-US" sz="1500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enabling independent updates &amp; fine-tuning</a:t>
            </a:r>
          </a:p>
          <a:p>
            <a:pPr marL="285750" indent="-285750">
              <a:lnSpc>
                <a:spcPts val="245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Low-latency </a:t>
            </a:r>
            <a:r>
              <a:rPr lang="en-US" sz="1500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pipeline and flow optimized for real-time feedback</a:t>
            </a:r>
          </a:p>
          <a:p>
            <a:pPr marL="285750" indent="-285750">
              <a:lnSpc>
                <a:spcPts val="245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Scalable &amp; cloud-ready </a:t>
            </a:r>
            <a:r>
              <a:rPr lang="en-US" sz="1500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architecture supporting multiple simultaneous sessions and combined data management</a:t>
            </a:r>
          </a:p>
          <a:p>
            <a:pPr>
              <a:lnSpc>
                <a:spcPts val="2450"/>
              </a:lnSpc>
            </a:pPr>
            <a:endParaRPr lang="en-US" sz="15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6126"/>
            <a:ext cx="57032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Feasibility &amp; Viability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18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i="1" dirty="0">
                <a:solidFill>
                  <a:srgbClr val="4842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Feasibility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430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→ </a:t>
            </a: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Proven stack using battle-tested modern technologies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1000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Feasible using CV and NLP libraries (</a:t>
            </a:r>
            <a:r>
              <a:rPr lang="en-US" sz="1750" b="1" i="1" dirty="0" err="1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MediaPipe</a:t>
            </a: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r>
              <a:rPr lang="en-US" sz="1750" b="1" i="1" dirty="0" err="1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PyTorch</a:t>
            </a: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 </a:t>
            </a:r>
            <a:r>
              <a:rPr lang="en-US" sz="1750" b="1" i="1" dirty="0" err="1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HuggingFace</a:t>
            </a: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1510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Minimalist and easy-to-use and build with powerful web technologies: Next.js (Frontend), Django (Backend)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20201"/>
            <a:ext cx="6244709" cy="725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Modular ML models and LLMs with large datasets: </a:t>
            </a:r>
          </a:p>
          <a:p>
            <a:pPr algn="l">
              <a:lnSpc>
                <a:spcPts val="2850"/>
              </a:lnSpc>
              <a:buSzPct val="100000"/>
            </a:pP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	BLIP,  CLIP,  Google Gemini</a:t>
            </a:r>
          </a:p>
        </p:txBody>
      </p:sp>
      <p:sp>
        <p:nvSpPr>
          <p:cNvPr id="8" name="Text 6"/>
          <p:cNvSpPr/>
          <p:nvPr/>
        </p:nvSpPr>
        <p:spPr>
          <a:xfrm>
            <a:off x="7599521" y="26618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i="1" dirty="0">
                <a:solidFill>
                  <a:srgbClr val="4842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Viability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24302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→ Growing demand for </a:t>
            </a: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AI-driven recruitment tools</a:t>
            </a:r>
            <a:r>
              <a:rPr lang="en-US" sz="17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81000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7D3E2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Larger target audience : </a:t>
            </a: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universities, hiring firms , corporate HR teams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61510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7D3E2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Competitive advantage : </a:t>
            </a: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Real-time, multi-parameter evaluation vs. standard MCQ.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42020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7D3E2C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Large target audience : </a:t>
            </a:r>
            <a:r>
              <a:rPr lang="en-US" sz="17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universities, hiring firms, corporate HR teams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4804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 have a clear roadmap for</a:t>
            </a:r>
            <a:r>
              <a:rPr lang="en-US" sz="1750" b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development, deployment, and adoption</a:t>
            </a:r>
            <a:r>
              <a:rPr lang="en-US" sz="1750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in both academic and corporate recruitment.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9952" y="448389"/>
            <a:ext cx="4071818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i="1" dirty="0">
                <a:solidFill>
                  <a:srgbClr val="4842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Impacts &amp; Benefits</a:t>
            </a:r>
            <a:endParaRPr lang="en-US" sz="3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52" y="1201579"/>
            <a:ext cx="8004096" cy="6513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2711" y="2015728"/>
            <a:ext cx="2035850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i="1" dirty="0">
                <a:solidFill>
                  <a:srgbClr val="746558"/>
                </a:solidFill>
                <a:latin typeface="Montserrat" pitchFamily="34" charset="0"/>
              </a:rPr>
              <a:t>Candidate Impact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32711" y="2367796"/>
            <a:ext cx="7678579" cy="5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Personalized, structured improvement feedback which also removes ambiguity &amp; anxiety from assessment.</a:t>
            </a: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Bridges the gap between academia and industry readiness</a:t>
            </a: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952" y="2953822"/>
            <a:ext cx="8004096" cy="6513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2711" y="3767971"/>
            <a:ext cx="2089785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i="1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Recruiter Impact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732711" y="4120039"/>
            <a:ext cx="7678579" cy="579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Objective shortlisting, improved bias mitigation. Saves many hours of manual evaluation</a:t>
            </a: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i="1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Promotes fair opportunity in recruitment regardless of background and perception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952" y="4706064"/>
            <a:ext cx="8004096" cy="6513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2711" y="5520214"/>
            <a:ext cx="2921794" cy="25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i="1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Environmental Sustainability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732711" y="5872282"/>
            <a:ext cx="7678579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</a:t>
            </a:r>
            <a:r>
              <a:rPr lang="en-US" sz="12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ndirect </a:t>
            </a:r>
            <a:r>
              <a:rPr lang="en-US" sz="12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reduction of waste and promoting eco-friendly practices through reduced travel. </a:t>
            </a:r>
            <a:r>
              <a:rPr lang="en-US" sz="12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By enabling high-quality remote practice and </a:t>
            </a:r>
            <a:r>
              <a:rPr lang="en-US" sz="12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optimizing the Screening funnel. </a:t>
            </a:r>
            <a:r>
              <a:rPr lang="en-US" sz="12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 help decrease the need for early-stage physical interviews , </a:t>
            </a:r>
            <a:r>
              <a:rPr lang="en-US" sz="12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leading to low carbon emission</a:t>
            </a:r>
            <a:r>
              <a:rPr lang="en-US" sz="12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from candidates and recruiter travel.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732711" y="6751439"/>
            <a:ext cx="7678579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569952" y="7520583"/>
            <a:ext cx="8004096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Our solution aims to create a positive ripple effect across multiple dimensions.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0410" y="513874"/>
            <a:ext cx="5315903" cy="584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4842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&amp; References</a:t>
            </a:r>
            <a:endParaRPr lang="en-US" sz="3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410" y="1378148"/>
            <a:ext cx="3917990" cy="7474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27219" y="2312432"/>
            <a:ext cx="2336125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 of AI </a:t>
            </a:r>
            <a:r>
              <a:rPr lang="en-US" sz="1800" b="1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</a:t>
            </a:r>
            <a:r>
              <a:rPr lang="en-US" sz="1800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lization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327219" y="2716411"/>
            <a:ext cx="3544372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→ The </a:t>
            </a:r>
            <a:r>
              <a:rPr lang="en-US" sz="14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  <a:hlinkClick r:id="rId5"/>
              </a:rPr>
              <a:t>LinkedIn Workplace Learning Report (2024)</a:t>
            </a:r>
            <a:r>
              <a:rPr lang="en-US" sz="14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showed us that employees increasingly demand AI personalized career development and soft skills are surging in importance.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1378148"/>
            <a:ext cx="3917990" cy="7474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45209" y="2312432"/>
            <a:ext cx="2336125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Impact on Recruitment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0245209" y="2716411"/>
            <a:ext cx="3544372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→ AI adoption in recruitment is rising – screening, evaluation and filtering are being automated as per the </a:t>
            </a:r>
            <a:r>
              <a:rPr lang="en-US" sz="1450" i="1" dirty="0" err="1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  <a:hlinkClick r:id="rId7"/>
              </a:rPr>
              <a:t>Psico</a:t>
            </a:r>
            <a:r>
              <a:rPr lang="en-US" sz="14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  <a:hlinkClick r:id="rId7"/>
              </a:rPr>
              <a:t>-Smart Blog</a:t>
            </a:r>
            <a:r>
              <a:rPr lang="en-US" sz="14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Bias remains a significant risk to recruitment.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0410" y="4398645"/>
            <a:ext cx="3917990" cy="74747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27219" y="5332928"/>
            <a:ext cx="3438763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Hiring Top Talent – A Challenge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327219" y="5736908"/>
            <a:ext cx="3544372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4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→ This </a:t>
            </a:r>
            <a:r>
              <a:rPr lang="en-US" sz="14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  <a:hlinkClick r:id="rId9"/>
              </a:rPr>
              <a:t>SHRM blog </a:t>
            </a:r>
            <a:r>
              <a:rPr lang="en-US" sz="14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highlights how organizations struggle to hire quality candidates, and trends indicate that  33% candidates don’t have the right skills required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0" y="4398645"/>
            <a:ext cx="3917990" cy="74747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45209" y="5332928"/>
            <a:ext cx="2336125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Tech Backing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10245209" y="5736908"/>
            <a:ext cx="3544372" cy="1794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4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→ Google’s Research </a:t>
            </a:r>
            <a:r>
              <a:rPr lang="en-US" sz="14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  <a:hlinkClick r:id="rId11"/>
              </a:rPr>
              <a:t>blog on </a:t>
            </a:r>
            <a:r>
              <a:rPr lang="en-US" sz="1450" i="1" dirty="0" err="1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  <a:hlinkClick r:id="rId11"/>
              </a:rPr>
              <a:t>MediaPipe</a:t>
            </a:r>
            <a:r>
              <a:rPr lang="en-US" sz="14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  <a:hlinkClick r:id="rId11"/>
              </a:rPr>
              <a:t> </a:t>
            </a:r>
            <a:r>
              <a:rPr lang="en-US" sz="14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shows how real-time body tracking can be done efficiently on-device or in low latency with details such as methods, tradeoffs and </a:t>
            </a:r>
            <a:r>
              <a:rPr lang="en-US" sz="1450" i="1" dirty="0" err="1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optmizations</a:t>
            </a:r>
            <a:r>
              <a:rPr lang="en-US" sz="14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 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1873" y="752237"/>
            <a:ext cx="5014079" cy="626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4842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701873" y="1679615"/>
            <a:ext cx="7740253" cy="2364819"/>
          </a:xfrm>
          <a:prstGeom prst="roundRect">
            <a:avLst>
              <a:gd name="adj" fmla="val 3562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80" y="1582222"/>
            <a:ext cx="240625" cy="24062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894" y="3901202"/>
            <a:ext cx="240625" cy="2406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25485" y="2003227"/>
            <a:ext cx="2506980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i="1" dirty="0">
                <a:solidFill>
                  <a:srgbClr val="7465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Impressions</a:t>
            </a:r>
            <a:endParaRPr lang="en-US" sz="1950" dirty="0"/>
          </a:p>
        </p:txBody>
      </p:sp>
      <p:sp>
        <p:nvSpPr>
          <p:cNvPr id="8" name="Text 3"/>
          <p:cNvSpPr/>
          <p:nvPr/>
        </p:nvSpPr>
        <p:spPr>
          <a:xfrm>
            <a:off x="1025485" y="2436852"/>
            <a:ext cx="7093029" cy="128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i="1" u="sng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Persona</a:t>
            </a:r>
            <a:r>
              <a:rPr lang="en-US" sz="15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offers a</a:t>
            </a:r>
            <a:r>
              <a:rPr lang="en-US" sz="15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transformative approach to job-readiness and equitable talent discovery. By providing objective, data-driven feedback</a:t>
            </a:r>
            <a:r>
              <a:rPr lang="en-US" sz="15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on non-verbal communication, We demonstrate significant advancements in </a:t>
            </a:r>
            <a:r>
              <a:rPr lang="en-US" sz="15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boosting candidate confidence and reducing bias</a:t>
            </a:r>
            <a:r>
              <a:rPr lang="en-US" sz="15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in the pre interview process.</a:t>
            </a:r>
            <a:endParaRPr lang="en-US" sz="1550" dirty="0"/>
          </a:p>
        </p:txBody>
      </p:sp>
      <p:sp>
        <p:nvSpPr>
          <p:cNvPr id="9" name="Shape 4"/>
          <p:cNvSpPr/>
          <p:nvPr/>
        </p:nvSpPr>
        <p:spPr>
          <a:xfrm>
            <a:off x="701873" y="4244935"/>
            <a:ext cx="7740253" cy="2364819"/>
          </a:xfrm>
          <a:prstGeom prst="roundRect">
            <a:avLst>
              <a:gd name="adj" fmla="val 3562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480" y="4147542"/>
            <a:ext cx="240625" cy="24062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894" y="6466522"/>
            <a:ext cx="240625" cy="24062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25485" y="4568547"/>
            <a:ext cx="2506980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i="1" dirty="0">
                <a:solidFill>
                  <a:srgbClr val="746558"/>
                </a:solidFill>
                <a:latin typeface="Montserrat" pitchFamily="34" charset="0"/>
              </a:rPr>
              <a:t>0ur \/</a:t>
            </a:r>
            <a:r>
              <a:rPr lang="en-US" sz="1950" i="1" dirty="0" err="1">
                <a:solidFill>
                  <a:srgbClr val="746558"/>
                </a:solidFill>
                <a:latin typeface="Montserrat" pitchFamily="34" charset="0"/>
              </a:rPr>
              <a:t>ision</a:t>
            </a:r>
            <a:endParaRPr lang="en-US" sz="1950" dirty="0"/>
          </a:p>
        </p:txBody>
      </p:sp>
      <p:sp>
        <p:nvSpPr>
          <p:cNvPr id="13" name="Text 6"/>
          <p:cNvSpPr/>
          <p:nvPr/>
        </p:nvSpPr>
        <p:spPr>
          <a:xfrm>
            <a:off x="1025485" y="5002173"/>
            <a:ext cx="7093029" cy="128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Our vision is to </a:t>
            </a:r>
            <a:r>
              <a:rPr lang="en-US" sz="15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empower careers </a:t>
            </a:r>
            <a:r>
              <a:rPr lang="en-US" sz="1550" b="1" i="1" dirty="0" err="1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throught</a:t>
            </a:r>
            <a:r>
              <a:rPr lang="en-US" sz="15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objective, AI-driven insights</a:t>
            </a:r>
            <a:r>
              <a:rPr lang="en-US" sz="1550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and to </a:t>
            </a:r>
            <a:r>
              <a:rPr lang="en-US" sz="1550" b="1" i="1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build a bridge between human potential and AI precision.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1550" b="1" i="1" dirty="0">
              <a:solidFill>
                <a:srgbClr val="746558"/>
              </a:solidFill>
              <a:latin typeface="Heebo Light" pitchFamily="34" charset="0"/>
              <a:cs typeface="Heebo Light" pitchFamily="34" charset="-12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701873" y="6835378"/>
            <a:ext cx="7740253" cy="641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Thank you for your time and consideration.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 		– Team </a:t>
            </a:r>
            <a:r>
              <a:rPr lang="en-US" sz="1550" b="1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Limitless Loop</a:t>
            </a:r>
            <a:r>
              <a:rPr lang="en-US" sz="1550" dirty="0">
                <a:solidFill>
                  <a:srgbClr val="746558"/>
                </a:solidFill>
                <a:latin typeface="Heebo Light" pitchFamily="34" charset="0"/>
                <a:cs typeface="Heebo Light" pitchFamily="34" charset="-120"/>
              </a:rPr>
              <a:t> 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741</Words>
  <Application>Microsoft Office PowerPoint</Application>
  <PresentationFormat>Custom</PresentationFormat>
  <Paragraphs>82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Heebo Light</vt:lpstr>
      <vt:lpstr>Myanmar Text</vt:lpstr>
      <vt:lpstr>Bahnschrift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vishesh Garg</cp:lastModifiedBy>
  <cp:revision>5</cp:revision>
  <dcterms:created xsi:type="dcterms:W3CDTF">2025-10-03T08:35:38Z</dcterms:created>
  <dcterms:modified xsi:type="dcterms:W3CDTF">2026-07-03T06:27:03Z</dcterms:modified>
</cp:coreProperties>
</file>